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e51e405bd04795" /><Relationship Type="http://schemas.openxmlformats.org/officeDocument/2006/relationships/extended-properties" Target="/docProps/app.xml" Id="R26c118a3ab5c42dd" /><Relationship Type="http://schemas.openxmlformats.org/officeDocument/2006/relationships/officeDocument" Target="/ppt/presentation.xml" Id="R0bcd17229ab341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eb157258b404b"/>
  </p:sldMasterIdLst>
  <p:notesMasterIdLst>
    <p:notesMasterId xmlns:r="http://schemas.openxmlformats.org/officeDocument/2006/relationships" r:id="Ra01d3ea31ab54298"/>
  </p:notesMasterIdLst>
  <p:sldIdLst>
    <p:sldId xmlns:r="http://schemas.openxmlformats.org/officeDocument/2006/relationships" id="256" r:id="R09da30ad623240a6"/>
    <p:sldId xmlns:r="http://schemas.openxmlformats.org/officeDocument/2006/relationships" id="257" r:id="R181891f6b1514c17"/>
    <p:sldId xmlns:r="http://schemas.openxmlformats.org/officeDocument/2006/relationships" id="258" r:id="R9ac3a40ad38a4587"/>
    <p:sldId xmlns:r="http://schemas.openxmlformats.org/officeDocument/2006/relationships" id="259" r:id="Rb90963dac48a4350"/>
    <p:sldId xmlns:r="http://schemas.openxmlformats.org/officeDocument/2006/relationships" id="260" r:id="R90783dddffdf4bd6"/>
    <p:sldId xmlns:r="http://schemas.openxmlformats.org/officeDocument/2006/relationships" id="261" r:id="Rd0072ed4c7d244dc"/>
    <p:sldId xmlns:r="http://schemas.openxmlformats.org/officeDocument/2006/relationships" id="262" r:id="R814dbca040664a49"/>
    <p:sldId xmlns:r="http://schemas.openxmlformats.org/officeDocument/2006/relationships" id="263" r:id="Rca0509dad1584ce4"/>
    <p:sldId xmlns:r="http://schemas.openxmlformats.org/officeDocument/2006/relationships" id="264" r:id="R49112436ce944192"/>
    <p:sldId xmlns:r="http://schemas.openxmlformats.org/officeDocument/2006/relationships" id="265" r:id="R4a6d7015659e4ff1"/>
    <p:sldId xmlns:r="http://schemas.openxmlformats.org/officeDocument/2006/relationships" id="266" r:id="R8b628e6b7e2545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ce1a5ef79c405b" /><Relationship Type="http://schemas.openxmlformats.org/officeDocument/2006/relationships/slideMaster" Target="/ppt/slideMasters/slideMaster1.xml" Id="Rf6beb157258b404b" /><Relationship Type="http://schemas.openxmlformats.org/officeDocument/2006/relationships/notesMaster" Target="/ppt/notesMasters/notesMaster1.xml" Id="Ra01d3ea31ab54298" /><Relationship Type="http://schemas.openxmlformats.org/officeDocument/2006/relationships/presProps" Target="/ppt/presProps.xml" Id="R0983ea5a0eff48b0" /><Relationship Type="http://schemas.openxmlformats.org/officeDocument/2006/relationships/tableStyles" Target="/ppt/tableStyles.xml" Id="R50e6b3ddb21543b5" /><Relationship Type="http://schemas.openxmlformats.org/officeDocument/2006/relationships/slide" Target="/ppt/slides/slide1.xml" Id="R09da30ad623240a6" /><Relationship Type="http://schemas.openxmlformats.org/officeDocument/2006/relationships/slide" Target="/ppt/slides/slide2.xml" Id="R181891f6b1514c17" /><Relationship Type="http://schemas.openxmlformats.org/officeDocument/2006/relationships/slide" Target="/ppt/slides/slide3.xml" Id="R9ac3a40ad38a4587" /><Relationship Type="http://schemas.openxmlformats.org/officeDocument/2006/relationships/slide" Target="/ppt/slides/slide4.xml" Id="Rb90963dac48a4350" /><Relationship Type="http://schemas.openxmlformats.org/officeDocument/2006/relationships/slide" Target="/ppt/slides/slide5.xml" Id="R90783dddffdf4bd6" /><Relationship Type="http://schemas.openxmlformats.org/officeDocument/2006/relationships/slide" Target="/ppt/slides/slide6.xml" Id="Rd0072ed4c7d244dc" /><Relationship Type="http://schemas.openxmlformats.org/officeDocument/2006/relationships/slide" Target="/ppt/slides/slide7.xml" Id="R814dbca040664a49" /><Relationship Type="http://schemas.openxmlformats.org/officeDocument/2006/relationships/slide" Target="/ppt/slides/slide8.xml" Id="Rca0509dad1584ce4" /><Relationship Type="http://schemas.openxmlformats.org/officeDocument/2006/relationships/slide" Target="/ppt/slides/slide9.xml" Id="R49112436ce944192" /><Relationship Type="http://schemas.openxmlformats.org/officeDocument/2006/relationships/slide" Target="/ppt/slides/slide10.xml" Id="R4a6d7015659e4ff1" /><Relationship Type="http://schemas.openxmlformats.org/officeDocument/2006/relationships/slide" Target="/ppt/slides/slide11.xml" Id="R8b628e6b7e25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ee8dffe4ea43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6d0ff53d504b06" /><Relationship Type="http://schemas.openxmlformats.org/officeDocument/2006/relationships/notesMaster" Target="/ppt/notesMasters/notesMaster1.xml" Id="R7c9b7546495248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99f5070f774b43" /><Relationship Type="http://schemas.openxmlformats.org/officeDocument/2006/relationships/notesMaster" Target="/ppt/notesMasters/notesMaster1.xml" Id="R3788b9e018ac40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f85b0778974abf" /><Relationship Type="http://schemas.openxmlformats.org/officeDocument/2006/relationships/notesMaster" Target="/ppt/notesMasters/notesMaster1.xml" Id="Rb48c5bd5c49041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35354c0a004a7d" /><Relationship Type="http://schemas.openxmlformats.org/officeDocument/2006/relationships/notesMaster" Target="/ppt/notesMasters/notesMaster1.xml" Id="R0f6ccc1a8fed45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e53a3099124150" /><Relationship Type="http://schemas.openxmlformats.org/officeDocument/2006/relationships/notesMaster" Target="/ppt/notesMasters/notesMaster1.xml" Id="R6b840bb3c23042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20b91edaec4a7b" /><Relationship Type="http://schemas.openxmlformats.org/officeDocument/2006/relationships/notesMaster" Target="/ppt/notesMasters/notesMaster1.xml" Id="R8ad70ea1f7c3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38e8ea531145c3" /><Relationship Type="http://schemas.openxmlformats.org/officeDocument/2006/relationships/notesMaster" Target="/ppt/notesMasters/notesMaster1.xml" Id="R376eb380e58a40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e5e49109bd47b4" /><Relationship Type="http://schemas.openxmlformats.org/officeDocument/2006/relationships/notesMaster" Target="/ppt/notesMasters/notesMaster1.xml" Id="Rcdea4a12147448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b41f4f7e384658" /><Relationship Type="http://schemas.openxmlformats.org/officeDocument/2006/relationships/notesMaster" Target="/ppt/notesMasters/notesMaster1.xml" Id="R6c2583923a684e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9620adca884dfc" /><Relationship Type="http://schemas.openxmlformats.org/officeDocument/2006/relationships/notesMaster" Target="/ppt/notesMasters/notesMaster1.xml" Id="R3053984f801c48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1207ffb6944028" /><Relationship Type="http://schemas.openxmlformats.org/officeDocument/2006/relationships/notesMaster" Target="/ppt/notesMasters/notesMaster1.xml" Id="R4860aabe44bd4b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Image: repository asset assets/v2_p3_0.jpeg.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All education, capability, and date text comes from the resume.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Blue Origin experience: current resume, Fluids Engineering and Lunar Manufacturing.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Image: repository asset assets/v2_p3_2.jpeg. Fin design and thermoforming claims: current resume, GTXR.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Supporting public project evidence: C:/Documents/Resumes/Portfolio - Nathaniel Murcin.pdf. Images: repository assets v2_p4_0.webp, v2_p4_1.webp, and v2_p5_1.jpeg. Sequence and metrics come from the resume; roll-coupling context appears in the supplied V1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Electrical passthrough claims: current resume, GTXR.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Composite testing and model validation: current resume, GTXR.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All metrics and qualification language come from the resume.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Research role and publication metadata come from the resume. Both papers are AIAA Regional Student Conference Proceedings.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Capabilities and contact details come from the resume.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Factual source: C:/Documents/Resumes/ATL/Nathaniel_Murcin_Resume.pdf. Supporting public project evidence: C:/Documents/Resumes/Portfolio - Nathaniel Murcin.pdf. Images: repository assets v2_p6_3.jpeg and v2_p6_0.jpeg. Project claims come from the supplied V1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03e51d3fc442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b3badfbd0449d2" /><Relationship Type="http://schemas.openxmlformats.org/officeDocument/2006/relationships/slideLayout" Target="/ppt/slideLayouts/slideLayout1.xml" Id="R59d5a770a7c444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5a770a7c444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8dbdbf0114620" /><Relationship Type="http://schemas.openxmlformats.org/officeDocument/2006/relationships/image" Target="/ppt/media/image.jpeg" Id="Rec5be8f18b564dde" /><Relationship Type="http://schemas.openxmlformats.org/officeDocument/2006/relationships/notesSlide" Target="/ppt/notesSlides/notesSlide1.xml" Id="Rde3a8352e8ae42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c4adf90894b38" /><Relationship Type="http://schemas.openxmlformats.org/officeDocument/2006/relationships/notesSlide" Target="/ppt/notesSlides/notesSlide2.xml" Id="Readb1d23e6d848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f02533bf442f6" /><Relationship Type="http://schemas.openxmlformats.org/officeDocument/2006/relationships/notesSlide" Target="/ppt/notesSlides/notesSlide3.xml" Id="R54bddcfca93948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8b031234d4326" /><Relationship Type="http://schemas.openxmlformats.org/officeDocument/2006/relationships/image" Target="/ppt/media/image2.jpeg" Id="Reb53a6f063344bb2" /><Relationship Type="http://schemas.openxmlformats.org/officeDocument/2006/relationships/notesSlide" Target="/ppt/notesSlides/notesSlide4.xml" Id="Rab6a21b3334549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5c2bb69bc4a7f" /><Relationship Type="http://schemas.openxmlformats.org/officeDocument/2006/relationships/image" Target="/ppt/media/image.bin" Id="Rd571b3612a06479a" /><Relationship Type="http://schemas.openxmlformats.org/officeDocument/2006/relationships/image" Target="/ppt/media/image2.bin" Id="R6f7cba52d7ab48d8" /><Relationship Type="http://schemas.openxmlformats.org/officeDocument/2006/relationships/image" Target="/ppt/media/image3.jpeg" Id="R6a6078dfe47a4ea7" /><Relationship Type="http://schemas.openxmlformats.org/officeDocument/2006/relationships/notesSlide" Target="/ppt/notesSlides/notesSlide5.xml" Id="R79276a3198b84c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76c3dbcb147fc" /><Relationship Type="http://schemas.openxmlformats.org/officeDocument/2006/relationships/notesSlide" Target="/ppt/notesSlides/notesSlide6.xml" Id="R1daafb079cce49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e1b0b06f1464f" /><Relationship Type="http://schemas.openxmlformats.org/officeDocument/2006/relationships/notesSlide" Target="/ppt/notesSlides/notesSlide7.xml" Id="Rb2e65cfabdae44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977d727734ae0" /><Relationship Type="http://schemas.openxmlformats.org/officeDocument/2006/relationships/notesSlide" Target="/ppt/notesSlides/notesSlide8.xml" Id="R2c93c3c095b543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583176706473d" /><Relationship Type="http://schemas.openxmlformats.org/officeDocument/2006/relationships/notesSlide" Target="/ppt/notesSlides/notesSlide9.xml" Id="Reb99e4cdaa9847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841cec7374b67" /><Relationship Type="http://schemas.openxmlformats.org/officeDocument/2006/relationships/notesSlide" Target="/ppt/notesSlides/notesSlide10.xml" Id="Rdba0a6f67f014f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24f8ef381451b" /><Relationship Type="http://schemas.openxmlformats.org/officeDocument/2006/relationships/image" Target="/ppt/media/image4.jpeg" Id="R775d2d6495f8454d" /><Relationship Type="http://schemas.openxmlformats.org/officeDocument/2006/relationships/image" Target="/ppt/media/image5.jpeg" Id="Rbe988615709b48e1" /><Relationship Type="http://schemas.openxmlformats.org/officeDocument/2006/relationships/notesSlide" Target="/ppt/notesSlides/notesSlide11.xml" Id="R782afae42c9743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EBDB3-3F58-4791-8095-6A5CD7A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ED499-0C99-44D0-8818-0680D521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NATHANIEL MURCIN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482AF-066F-4CA2-90C3-7C9D7A7C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B3A36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3A369"/>
                </a:solidFill>
                <a:latin typeface="Arial"/>
                <a:ea typeface="Arial"/>
                <a:cs typeface="Arial"/>
              </a:rPr>
              <a:t>Aerospace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053D0-4C7C-43A5-A4F7-F106183C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E7E4D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7E4DB"/>
                </a:solidFill>
                <a:latin typeface="Arial"/>
                <a:ea typeface="Arial"/>
                <a:cs typeface="Arial"/>
              </a:rPr>
              <a:t>Georgia Institute of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42DEE-80CB-4CB0-949E-1D40497B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7E4D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E4DB"/>
                </a:solidFill>
                <a:latin typeface="Arial"/>
                <a:ea typeface="Arial"/>
                <a:cs typeface="Arial"/>
              </a:rPr>
              <a:t>Engineering portfolio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be8f18b564dde"/>
          <a:stretch xmlns:a="http://schemas.openxmlformats.org/drawingml/2006/main"/>
        </p:blipFill>
        <p:spPr>
          <a:xfrm xmlns:a="http://schemas.openxmlformats.org/drawingml/2006/main">
            <a:off x="6333227" y="495300"/>
            <a:ext cx="5154822" cy="5867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1DE49-3C45-44E6-9B12-32150A53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E7E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E4DB"/>
                </a:solidFill>
                <a:latin typeface="Arial"/>
                <a:ea typeface="Arial"/>
                <a:cs typeface="Arial"/>
              </a:rPr>
              <a:t>GTXR fin layup</a:t>
            </a:r>
          </a:p>
        </p:txBody>
      </p:sp>
    </p:spTree>
    <p:extLst>
      <p:ext uri="{BB962C8B-B14F-4D97-AF65-F5344CB8AC3E}">
        <p14:creationId xmlns:p14="http://schemas.microsoft.com/office/powerpoint/2010/main" val="13990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326B4-9B89-4A19-A824-F3128F0B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Engineering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6502B-999E-4BCC-A7E3-8E484B5B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18B3B-54E4-40A4-9B1D-FF12FFAC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74C93-FBD6-4069-9131-6DDB1644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Education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C88B9-AB1F-41FC-B55F-07057DDD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Georgia Institute of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BF5B4-703D-4488-B09F-A216CB73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B.S. Aerospace Engineering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Expected May 2027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B.S./M.S. Aerospace Engineering Program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Minor in Astrophysics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GPA 4.00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EFAEE-AF67-4160-8376-B0F2E97A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90650"/>
            <a:ext cx="285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89CA8-2CC3-4442-8852-10EA37C1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906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Capability 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87D70-ACF2-485F-A7AE-367FBE9F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Fluid systems and aerospace hardware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Structural analysis and experimental testing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Precision tooling and manufacturing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4C972-87CC-45F2-BA90-8C7FCD2B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575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832D0-2F5E-4E90-91D2-E5748E89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576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Blue Origin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DF9BE-7D2C-49DD-9CAB-8DCCF663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57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May 2026 - Aug.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EEE7F-F82C-4416-AE29-F8072F1A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8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Pursuit Aerospace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E919F-54D2-4D1E-9711-CA72648E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48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Aug. 2025 - Dec.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64F90-22B0-49A5-AD10-58FE9981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386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Georgia Tech Experimental Rocketry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339E9-7131-4E09-9396-17C2232F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386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Aug. 2023 - Present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CCE73-7104-4A6B-9ED3-5F0BF918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292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Ben T. Zinn Combustion Laboratory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9D03D-3F22-4603-ADEA-75A16BF2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29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Jan. 2026 - Present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F9450-DC43-4F87-8634-6C0A64C1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Aerospace hardware / Analysis / Manufacturing / Test</a:t>
            </a:r>
          </a:p>
        </p:txBody>
      </p:sp>
    </p:spTree>
    <p:extLst>
      <p:ext uri="{BB962C8B-B14F-4D97-AF65-F5344CB8AC3E}">
        <p14:creationId xmlns:p14="http://schemas.microsoft.com/office/powerpoint/2010/main" val="726261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80F55-8B82-4316-AADE-ECFC352B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Professional aerospace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C5F68-2EC1-4CB4-B757-7FB26BCD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237CC-CFE9-4E3F-B256-4AC34DE3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4E85A-7A84-4251-A986-0F16EDA0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BLUE ORIGIN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A66DD-1630-43FF-95DE-04C2E2DB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Fluids &amp; Manufacturing Engineering Intern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61AF9-E151-448A-94F4-10B3E53D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Cape Canaveral, FL  /  May 2026 - Aug.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84A34-07B0-4380-9ABC-F8B304D6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8B4D8-C72D-46C5-8EA3-492100D3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FLUIDS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CC4F7-879D-445A-8FFF-F69E6B21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857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D3F"/>
                </a:solidFill>
                <a:latin typeface="Arial"/>
                <a:ea typeface="Arial"/>
                <a:cs typeface="Arial"/>
              </a:rPr>
              <a:t>Designed a cryogenic tank-farm P&amp;ID for a large-scale ground-test facility. Reduced component count about 60% versus heritage designs by downsizing, eliminating branches, and challenging requirements.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DA78F-30D8-448A-827B-DE7733E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Sized, selected, and validated cryogenic piping, valves, and relief devices. Developed the BOM and coordinated with suppliers through procurement.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48F89-AFBB-40E4-9D50-C1CA4EB1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28575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DE53F-12A5-4595-A457-9D49A495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LUNAR MANUFACTURING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D1CD9-C02E-4DB6-97C2-A97FF33B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5238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D3F"/>
                </a:solidFill>
                <a:latin typeface="Arial"/>
                <a:ea typeface="Arial"/>
                <a:cs typeface="Arial"/>
              </a:rPr>
              <a:t>Designed 6 Creo versions for an adaptable gripping fixture. Reduced fasteners from 8 to 1 while improving technician usability and preventing slippage, part damage, and metal-chip FOD. The design passed PDR.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2AE8F-F794-4DB8-9826-156018FF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72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Validated the fixture with hand calculations and Creo static structural FEA.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D6B8C-BD9F-4F85-98B3-32E9496F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Preliminary hazard analysis and CONOPS supported formal HAZOP review.</a:t>
            </a:r>
          </a:p>
        </p:txBody>
      </p:sp>
    </p:spTree>
    <p:extLst>
      <p:ext uri="{BB962C8B-B14F-4D97-AF65-F5344CB8AC3E}">
        <p14:creationId xmlns:p14="http://schemas.microsoft.com/office/powerpoint/2010/main" val="1510748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C01C3-C120-4353-8AD1-62C3F406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Fin design and thermoforming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9474-F75C-46CC-8A89-3F2E503C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9CCE7-92F7-4D40-AEBD-6CA5150E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3a6f063344bb2"/>
          <a:srcRect xmlns:a="http://schemas.openxmlformats.org/drawingml/2006/main" l="12817" t="0" r="128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00175"/>
            <a:ext cx="5619750" cy="4038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3EAC8-6BA8-40FD-BB9C-F31856B5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561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CNC-machined aluminum tooling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D82E1-1E3A-4561-9762-A9ECF3E9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Structured trade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B07A6-AE73-44AC-ACC0-81BFDC50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19275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D3F"/>
                </a:solidFill>
                <a:latin typeface="Arial"/>
                <a:ea typeface="Arial"/>
                <a:cs typeface="Arial"/>
              </a:rPr>
              <a:t>Evaluated materials, geometries, and manufacturing constraints. Down-selected feasible concepts using analytical feasibility, machinability, and engineering first principles.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BB6F4-073F-40FA-82FC-D5F630B6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491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C8DEA-F618-44C3-BB5A-C547ACBD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Thermoforming 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AF7D4-BCAC-4C10-87C5-CFA03032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67175"/>
            <a:ext cx="49149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D3F"/>
                </a:solidFill>
                <a:latin typeface="Arial"/>
                <a:ea typeface="Arial"/>
                <a:cs typeface="Arial"/>
              </a:rPr>
              <a:t>Co-developed and evaluated a process for double-wedge PMI foam fin cores using CNC-machined aluminum tooling and 3D metrology.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2B8CF-6A77-4BC4-9B6F-F3267D82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0.28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CF1CE-FF15-47EA-9BC0-E951F69A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49592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average global geometric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72890-C2B6-4E9B-890F-0B5D619C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Georgia Tech Experimental Rocketry  /  Fin Design &amp; Manufacturing Lead</a:t>
            </a:r>
          </a:p>
        </p:txBody>
      </p:sp>
    </p:spTree>
    <p:extLst>
      <p:ext uri="{BB962C8B-B14F-4D97-AF65-F5344CB8AC3E}">
        <p14:creationId xmlns:p14="http://schemas.microsoft.com/office/powerpoint/2010/main" val="438527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FF9C2-8E44-4701-97FA-0AB91800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Fin alignment jig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BE934-F425-4A12-B5BE-1E80CB34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806C3-124B-4716-BCF2-24D1BA7C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1b3612a06479a"/>
          <a:stretch xmlns:a="http://schemas.openxmlformats.org/drawingml/2006/main"/>
        </p:blipFill>
        <p:spPr>
          <a:xfrm xmlns:a="http://schemas.openxmlformats.org/drawingml/2006/main">
            <a:off x="855482" y="1400175"/>
            <a:ext cx="2803886" cy="233362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cba52d7ab48d8"/>
          <a:stretch xmlns:a="http://schemas.openxmlformats.org/drawingml/2006/main"/>
        </p:blipFill>
        <p:spPr>
          <a:xfrm xmlns:a="http://schemas.openxmlformats.org/drawingml/2006/main">
            <a:off x="5220343" y="1400175"/>
            <a:ext cx="1751313" cy="233362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078dfe47a4ea7"/>
          <a:stretch xmlns:a="http://schemas.openxmlformats.org/drawingml/2006/main"/>
        </p:blipFill>
        <p:spPr>
          <a:xfrm xmlns:a="http://schemas.openxmlformats.org/drawingml/2006/main">
            <a:off x="8872066" y="1400175"/>
            <a:ext cx="2125017" cy="2333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D9337-DD6D-4D7B-8A40-0980E228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8B212-51C3-484A-A36D-4C1EEA73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19525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Machining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DA3B8-D5A1-47AD-B7EA-0D73BBAD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9525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Assembly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91A9A-0B91-4E41-9A5F-CF014FB8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Roll-coupling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0A324-E557-41B4-BC74-9A44376F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1007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1.6° fin cant requirement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8FA8E-F83D-47DA-8ACE-BAC82089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0075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Modular four-tower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930B0-D242-422F-9F7A-EE08F4F2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0075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CAD, CAM, and machining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7D675-D4F6-4B4E-BFFD-19D4563F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7537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D126E-2A88-400C-938A-A9082A78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&lt;0.1°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41577-49AD-4FC7-B928-6F8F3DD3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7687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Independent metrology verified all four fins within &lt;0.1° of the 1.6° target.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94B1A-5820-4F5C-A4A6-1E3CDB0C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Designed, CAM programmed, and machined by Nathaniel Murcin</a:t>
            </a:r>
          </a:p>
        </p:txBody>
      </p:sp>
    </p:spTree>
    <p:extLst>
      <p:ext uri="{BB962C8B-B14F-4D97-AF65-F5344CB8AC3E}">
        <p14:creationId xmlns:p14="http://schemas.microsoft.com/office/powerpoint/2010/main" val="20456825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3126A-71E6-41E1-A07B-851C6FF1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Emergency electrical passthrough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643EC-3E1C-4028-9FE9-68BDE730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74046-87D8-4487-A28E-CE6BD854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B3A3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A3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161D7-4CBA-40F2-83EB-B324CF20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During launch integration, the sole flight unit failed.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6FD8-9990-44FD-87B5-0A640C54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E7E4D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4DB"/>
                </a:solidFill>
                <a:latin typeface="Arial"/>
                <a:ea typeface="Arial"/>
                <a:cs typeface="Arial"/>
              </a:rPr>
              <a:t>Designed and fabricated a flight-critical NPT electrical passthrough.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86458-3210-4702-B8C5-8604C308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B3A36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B3A369"/>
                </a:solidFill>
                <a:latin typeface="Arial"/>
                <a:ea typeface="Arial"/>
                <a:cs typeface="Arial"/>
              </a:rPr>
              <a:t>14 hours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35EE5-9EEC-4BC1-80D7-2368E086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7E4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7E4DB"/>
                </a:solidFill>
                <a:latin typeface="Arial"/>
                <a:ea typeface="Arial"/>
                <a:cs typeface="Arial"/>
              </a:rPr>
              <a:t>design and fabrication turnaround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1B10D-0CB7-4D33-B541-C4E624E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B3A36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B3A369"/>
                </a:solidFill>
                <a:latin typeface="Arial"/>
                <a:ea typeface="Arial"/>
                <a:cs typeface="Arial"/>
              </a:rPr>
              <a:t>2× MEOP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6ED8E-7C5E-4446-BDA6-1A40D4C3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7E4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7E4DB"/>
                </a:solidFill>
                <a:latin typeface="Arial"/>
                <a:ea typeface="Arial"/>
                <a:cs typeface="Arial"/>
              </a:rPr>
              <a:t>hydrostatic test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F984F-5FE6-4510-AE7F-9F84FA6E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F34FE-0103-4F5C-A637-ADF21E6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hardware enabled successful flight.</a:t>
            </a:r>
          </a:p>
        </p:txBody>
      </p:sp>
    </p:spTree>
    <p:extLst>
      <p:ext uri="{BB962C8B-B14F-4D97-AF65-F5344CB8AC3E}">
        <p14:creationId xmlns:p14="http://schemas.microsoft.com/office/powerpoint/2010/main" val="1545261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6CC4E-AD69-4C34-A891-5282927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Composite shear modulus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583C6-8E92-4A1E-9973-A634CABF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CE1E8-6E9F-4CE6-AB91-E5C134CF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7CE26-E895-4338-9221-808452A3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TEST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BE0A5-F06B-475D-8DE9-71D3DC0D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Determine the in-plane shear modulus of composite sandwich panels.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46A1C-2063-4CD8-94B0-0F1A4278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9F2E2-E8A4-4291-A79C-B0F7E045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FAADF-8BEF-4BF7-8818-B20F8D0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D3F"/>
                </a:solidFill>
                <a:latin typeface="Arial"/>
                <a:ea typeface="Arial"/>
                <a:cs typeface="Arial"/>
              </a:rPr>
              <a:t>Designed and executed a plate-twist testing apparatus.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85584-DACE-4426-AAAC-C4A3410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476375"/>
            <a:ext cx="28575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795F8-993A-4553-A6F4-830CFC99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76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MODEL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27744-4B4E-4DA4-96D2-263C7485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8597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88388-FFFF-40E1-9B74-D1FB051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acceptance criterion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3E81C-744E-40D3-8993-6A70CB9D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D3F"/>
                </a:solidFill>
                <a:latin typeface="Arial"/>
                <a:ea typeface="Arial"/>
                <a:cs typeface="Arial"/>
              </a:rPr>
              <a:t>The experiment verified the ANSYS model within the acceptance criterion for future fin development.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3A58D-D790-4185-8A0C-17AEFAB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Analysis  /  Experiment  /  Validation</a:t>
            </a:r>
          </a:p>
        </p:txBody>
      </p:sp>
    </p:spTree>
    <p:extLst>
      <p:ext uri="{BB962C8B-B14F-4D97-AF65-F5344CB8AC3E}">
        <p14:creationId xmlns:p14="http://schemas.microsoft.com/office/powerpoint/2010/main" val="20694353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20FE1-626A-47F0-BFAB-1AA4A909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Manufacturing engineering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8397C-4112-476E-A936-8FC10221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5131E-91DF-47FF-B2FA-879D0B8D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B0659-AA83-4C4A-90E9-0A73DF6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PURSUIT AEROSPACE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A153A-3C3A-43C0-9642-76DE0BD0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Engineering Intern  /  Aug. 2025 - Dec. 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CF2AF-5B79-4F78-96D5-04ECCAE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F9FE7-2C68-4BE1-8775-8289A42E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00A1-68D0-4835-9407-EF2630A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quick-change dot-peen fixtures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FBF79-AF2C-48D6-A669-52866190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5908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6 s  to  1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CA07B-6447-47C4-9BC5-EDAFABA4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86050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average load/unload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BF8C7-D116-465B-AE62-8D60ED8B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480CA-04FA-4741-90C2-959CFDAC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40 s  to  2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02B63-4AA6-4AFD-B160-D5F98020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inspection time using Go/No-Go gauges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D8FF0-77D9-4761-B823-B2A428A2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24275"/>
            <a:ext cx="123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55%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749ED-7E24-4F0B-AD17-C73E3144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733800"/>
            <a:ext cx="1990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less time between completed parts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32255-C49B-455D-BBB4-5018FD53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276725"/>
            <a:ext cx="3305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Broader one-piece-flow changes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DAEBF-9C76-48F4-9553-9B6EF740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D55C5-A73D-497A-8C5F-C6EA90CA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3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D1AB8-6795-4FAB-9D8A-3DCC5F87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048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less lead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1ED95-7A87-4347-896E-259D5000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434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$1,000 / part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B5C78-E8B7-40C2-8C4F-B2A11E15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48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avoided outsourced cleaning and shipping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3F8C7-46FA-4122-8E6D-14602350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Developed an in-house supercleaning process qualified for production use by Rolls-Royce and Pursuit Quality.</a:t>
            </a:r>
          </a:p>
        </p:txBody>
      </p:sp>
    </p:spTree>
    <p:extLst>
      <p:ext uri="{BB962C8B-B14F-4D97-AF65-F5344CB8AC3E}">
        <p14:creationId xmlns:p14="http://schemas.microsoft.com/office/powerpoint/2010/main" val="6046336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ABC35-A045-4C29-94EF-C7D1E2A4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Research and publications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286FD-8EEA-43CA-AB32-4CE9727C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72FB2-1556-4042-82CE-A11EE8A7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8153A-6CAE-422F-B091-B43DD1CF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BEN T. ZINN COMBUSTION LABORATORY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046F3-9D0B-4389-911C-B6DCC01D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Undergraduate Researcher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2450E-A160-4E89-8341-2D6B9418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Jan. 2026 - Present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ACA52-FAC5-4FBC-8B27-63BE71BC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D3F"/>
                </a:solidFill>
                <a:latin typeface="Arial"/>
                <a:ea typeface="Arial"/>
                <a:cs typeface="Arial"/>
              </a:rPr>
              <a:t>Supported reacting jets-in-crossflow experiments by assembling regulated multi-gas delivery hardware and executing established MATLAB/PIV post-processing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CFFE2-04C6-41F4-9C1A-C698DD73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E71CE-6B78-4C27-941C-21346BBF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AIAA REGIONAL STUDENT CONFERENCE PROCEEDINGS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6166E-2085-44F3-A5E6-83A6A403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85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39BAF-8D85-40E2-9731-23A576B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29075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Shear Modulus Testing in Composite Sandwich Panels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B7736-2E4F-4703-8C2C-0728E0BB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AIAA 2024-85690  /  Co-author &amp; presenter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BCBE8-9286-4A88-8119-AB4364E4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85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43A75-8787-4EB8-9911-8301778F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Viability of Thermoformed Closed-Cell Foam Cores for Carbon Fiber Sandwich Rocket Fins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66B82-A418-4BC9-8F66-8ADB7F0C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AIAA 2026-112793  /  Co-author &amp; presenter</a:t>
            </a:r>
          </a:p>
        </p:txBody>
      </p:sp>
    </p:spTree>
    <p:extLst>
      <p:ext uri="{BB962C8B-B14F-4D97-AF65-F5344CB8AC3E}">
        <p14:creationId xmlns:p14="http://schemas.microsoft.com/office/powerpoint/2010/main" val="8741129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A783D-A4F4-4C38-BACA-3C076215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Engineering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C8871-CC21-47DB-863F-8C7B3BEC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E1894-93A8-4865-9CE9-E0DE2E25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B3A3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A3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1219C-24DF-4AD1-866C-1C1E4678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3A3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A369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435D7-1392-446D-B00D-DA5E84AC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Structural FEA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P&amp;ID design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Cryogenic sizing and safety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Structural and bolted-joint analysis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Flutter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57776-9DAD-49CE-88E8-26AEA3AC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95425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940BA-8A30-48FF-A8DE-EAB160B5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95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3A3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A369"/>
                </a:solidFill>
                <a:latin typeface="Arial"/>
                <a:ea typeface="Arial"/>
                <a:cs typeface="Arial"/>
              </a:rPr>
              <a:t>HARDWARE &amp; MANUFACTURING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535B7-F70F-4CA2-82F5-5F0387EC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33575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GD&amp;T and DFM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Composite layups and 3D printing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CNC mill, lathe, and waterjet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Instron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B80DA-A727-4633-81EE-E991A90E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CD63F-B879-44F0-9A96-66D1302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nmurcin3@gatech.edu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EF7C5-72D6-48A1-85D2-C03DD83B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3880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E7E4D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DB"/>
                </a:solidFill>
                <a:latin typeface="Arial"/>
                <a:ea typeface="Arial"/>
                <a:cs typeface="Arial"/>
              </a:rPr>
              <a:t>linkedin.com/in/nathaniel-murcin/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862B7-73ED-47CF-AAF9-8818FF81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38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0">
                <a:solidFill>
                  <a:srgbClr val="E7E4D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7E4DB"/>
                </a:solidFill>
                <a:latin typeface="Arial"/>
                <a:ea typeface="Arial"/>
                <a:cs typeface="Arial"/>
              </a:rPr>
              <a:t>nmurcin.github.io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1606E-0F86-4C7F-8CE2-851D2B3F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3A3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A369"/>
                </a:solidFill>
                <a:latin typeface="Arial"/>
                <a:ea typeface="Arial"/>
                <a:cs typeface="Arial"/>
              </a:rPr>
              <a:t>Nathaniel Murcin  /  Aerospace Engineering  /  Georgia Tech</a:t>
            </a:r>
          </a:p>
        </p:txBody>
      </p:sp>
    </p:spTree>
    <p:extLst>
      <p:ext uri="{BB962C8B-B14F-4D97-AF65-F5344CB8AC3E}">
        <p14:creationId xmlns:p14="http://schemas.microsoft.com/office/powerpoint/2010/main" val="20990824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D0C10-2646-47A7-9293-E48A79B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B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40"/>
                </a:solidFill>
                <a:latin typeface="Arial"/>
                <a:ea typeface="Arial"/>
                <a:cs typeface="Arial"/>
              </a:rPr>
              <a:t>Appendix: mock launch 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EFAFE-C942-45EB-BE29-1BB3C079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A3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0E293-DB06-40A6-A870-C76F3B7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d2d6495f8454d"/>
          <a:stretch xmlns:a="http://schemas.openxmlformats.org/drawingml/2006/main"/>
        </p:blipFill>
        <p:spPr>
          <a:xfrm xmlns:a="http://schemas.openxmlformats.org/drawingml/2006/main">
            <a:off x="1799517" y="1400175"/>
            <a:ext cx="2620792" cy="40195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88615709b48e1"/>
          <a:stretch xmlns:a="http://schemas.openxmlformats.org/drawingml/2006/main"/>
        </p:blipFill>
        <p:spPr>
          <a:xfrm xmlns:a="http://schemas.openxmlformats.org/drawingml/2006/main">
            <a:off x="5970791" y="1400175"/>
            <a:ext cx="2631668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6D6AB-718A-4B82-9DD1-BFBB24B9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Functional rail for the 2024-2025 GTXR mock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A9802-B76D-4C12-B367-4E4339AC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0175"/>
            <a:ext cx="2457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Two-week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9F645-7A94-4C85-A0E4-5DCAF5BA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4574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25" b="0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D3F"/>
                </a:solidFill>
                <a:latin typeface="Arial"/>
                <a:ea typeface="Arial"/>
                <a:cs typeface="Arial"/>
              </a:rPr>
              <a:t>Completed bending and buckling calculations, modeled components in CAD, and manufactured the wood, steel, and aluminum parts.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48E73-57FE-4DA5-85CC-A31B881B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567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E1E0A-B700-41E1-BCB1-54EA906F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577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6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6026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0F05B-657F-48B1-AE93-E5A388C9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577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32D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F"/>
                </a:solidFill>
                <a:latin typeface="Arial"/>
                <a:ea typeface="Arial"/>
                <a:cs typeface="Arial"/>
              </a:rPr>
              <a:t>A functional assembled launch rail for the mock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64EA3-1881-4381-95C0-1763158B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Supporting project  /  Georgia Tech Experimental Rocketry</a:t>
            </a:r>
          </a:p>
        </p:txBody>
      </p:sp>
    </p:spTree>
    <p:extLst>
      <p:ext uri="{BB962C8B-B14F-4D97-AF65-F5344CB8AC3E}">
        <p14:creationId xmlns:p14="http://schemas.microsoft.com/office/powerpoint/2010/main" val="528186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2026-09-21T13:31:14.7460000Z</dcterms:created>
  <dcterms:modified xsi:type="dcterms:W3CDTF">2026-09-21T13:31:14.7460000Z</dcterms:modified>
</coreProperties>
</file>