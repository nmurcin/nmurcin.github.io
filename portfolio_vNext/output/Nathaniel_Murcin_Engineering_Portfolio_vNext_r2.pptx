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fcfe38c47148f4" /><Relationship Type="http://schemas.openxmlformats.org/officeDocument/2006/relationships/extended-properties" Target="/docProps/app.xml" Id="Rbdd722528d7c4af5" /><Relationship Type="http://schemas.openxmlformats.org/officeDocument/2006/relationships/officeDocument" Target="/ppt/presentation.xml" Id="R3bfa17fe234c45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4fed75ad13456a"/>
  </p:sldMasterIdLst>
  <p:notesMasterIdLst>
    <p:notesMasterId xmlns:r="http://schemas.openxmlformats.org/officeDocument/2006/relationships" r:id="R5b7fe0f47ec24272"/>
  </p:notesMasterIdLst>
  <p:sldIdLst>
    <p:sldId xmlns:r="http://schemas.openxmlformats.org/officeDocument/2006/relationships" id="256" r:id="R7a74222a11f44edf"/>
    <p:sldId xmlns:r="http://schemas.openxmlformats.org/officeDocument/2006/relationships" id="257" r:id="R58109736c27043ae"/>
    <p:sldId xmlns:r="http://schemas.openxmlformats.org/officeDocument/2006/relationships" id="258" r:id="Rd165861547e04159"/>
    <p:sldId xmlns:r="http://schemas.openxmlformats.org/officeDocument/2006/relationships" id="259" r:id="R78b1bb511df341a5"/>
    <p:sldId xmlns:r="http://schemas.openxmlformats.org/officeDocument/2006/relationships" id="260" r:id="Ra2dc2fc378164ad7"/>
    <p:sldId xmlns:r="http://schemas.openxmlformats.org/officeDocument/2006/relationships" id="261" r:id="Ra44f37a05a844098"/>
    <p:sldId xmlns:r="http://schemas.openxmlformats.org/officeDocument/2006/relationships" id="262" r:id="Rcb04309b455544f1"/>
    <p:sldId xmlns:r="http://schemas.openxmlformats.org/officeDocument/2006/relationships" id="263" r:id="R405cddc50a274774"/>
    <p:sldId xmlns:r="http://schemas.openxmlformats.org/officeDocument/2006/relationships" id="264" r:id="Rbb0b9f581bbd4548"/>
    <p:sldId xmlns:r="http://schemas.openxmlformats.org/officeDocument/2006/relationships" id="265" r:id="R4709ffb21d4d43eb"/>
    <p:sldId xmlns:r="http://schemas.openxmlformats.org/officeDocument/2006/relationships" id="266" r:id="Rd92346ef7cb64b6b"/>
    <p:sldId xmlns:r="http://schemas.openxmlformats.org/officeDocument/2006/relationships" id="267" r:id="Ra5760b29a6574a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e448a81e974ee9" /><Relationship Type="http://schemas.openxmlformats.org/officeDocument/2006/relationships/slideMaster" Target="/ppt/slideMasters/slideMaster1.xml" Id="R734fed75ad13456a" /><Relationship Type="http://schemas.openxmlformats.org/officeDocument/2006/relationships/notesMaster" Target="/ppt/notesMasters/notesMaster1.xml" Id="R5b7fe0f47ec24272" /><Relationship Type="http://schemas.openxmlformats.org/officeDocument/2006/relationships/presProps" Target="/ppt/presProps.xml" Id="R3a9cb075b6f545b8" /><Relationship Type="http://schemas.openxmlformats.org/officeDocument/2006/relationships/tableStyles" Target="/ppt/tableStyles.xml" Id="R837b8d0a3ac04972" /><Relationship Type="http://schemas.openxmlformats.org/officeDocument/2006/relationships/slide" Target="/ppt/slides/slide1.xml" Id="R7a74222a11f44edf" /><Relationship Type="http://schemas.openxmlformats.org/officeDocument/2006/relationships/slide" Target="/ppt/slides/slide2.xml" Id="R58109736c27043ae" /><Relationship Type="http://schemas.openxmlformats.org/officeDocument/2006/relationships/slide" Target="/ppt/slides/slide3.xml" Id="Rd165861547e04159" /><Relationship Type="http://schemas.openxmlformats.org/officeDocument/2006/relationships/slide" Target="/ppt/slides/slide4.xml" Id="R78b1bb511df341a5" /><Relationship Type="http://schemas.openxmlformats.org/officeDocument/2006/relationships/slide" Target="/ppt/slides/slide5.xml" Id="Ra2dc2fc378164ad7" /><Relationship Type="http://schemas.openxmlformats.org/officeDocument/2006/relationships/slide" Target="/ppt/slides/slide6.xml" Id="Ra44f37a05a844098" /><Relationship Type="http://schemas.openxmlformats.org/officeDocument/2006/relationships/slide" Target="/ppt/slides/slide7.xml" Id="Rcb04309b455544f1" /><Relationship Type="http://schemas.openxmlformats.org/officeDocument/2006/relationships/slide" Target="/ppt/slides/slide8.xml" Id="R405cddc50a274774" /><Relationship Type="http://schemas.openxmlformats.org/officeDocument/2006/relationships/slide" Target="/ppt/slides/slide9.xml" Id="Rbb0b9f581bbd4548" /><Relationship Type="http://schemas.openxmlformats.org/officeDocument/2006/relationships/slide" Target="/ppt/slides/slide10.xml" Id="R4709ffb21d4d43eb" /><Relationship Type="http://schemas.openxmlformats.org/officeDocument/2006/relationships/slide" Target="/ppt/slides/slide11.xml" Id="Rd92346ef7cb64b6b" /><Relationship Type="http://schemas.openxmlformats.org/officeDocument/2006/relationships/slide" Target="/ppt/slides/slide12.xml" Id="Ra5760b29a6574a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f6e1faf41344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7e347e2b974339" /><Relationship Type="http://schemas.openxmlformats.org/officeDocument/2006/relationships/notesMaster" Target="/ppt/notesMasters/notesMaster1.xml" Id="Rb8e501fb65a648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22cf5133584ef3" /><Relationship Type="http://schemas.openxmlformats.org/officeDocument/2006/relationships/notesMaster" Target="/ppt/notesMasters/notesMaster1.xml" Id="R381d5a71235142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b4fb705e954249" /><Relationship Type="http://schemas.openxmlformats.org/officeDocument/2006/relationships/notesMaster" Target="/ppt/notesMasters/notesMaster1.xml" Id="R098cdf9ef7414d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8e8aa390464d4e" /><Relationship Type="http://schemas.openxmlformats.org/officeDocument/2006/relationships/notesMaster" Target="/ppt/notesMasters/notesMaster1.xml" Id="Rcbb7c65658544a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0530203633476a" /><Relationship Type="http://schemas.openxmlformats.org/officeDocument/2006/relationships/notesMaster" Target="/ppt/notesMasters/notesMaster1.xml" Id="R96283e150dcb44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ba823ee3ed4248" /><Relationship Type="http://schemas.openxmlformats.org/officeDocument/2006/relationships/notesMaster" Target="/ppt/notesMasters/notesMaster1.xml" Id="Ra4b150591b3d4e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ed05fa433445f4" /><Relationship Type="http://schemas.openxmlformats.org/officeDocument/2006/relationships/notesMaster" Target="/ppt/notesMasters/notesMaster1.xml" Id="R96a3f744798e4b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cf9cde138342a5" /><Relationship Type="http://schemas.openxmlformats.org/officeDocument/2006/relationships/notesMaster" Target="/ppt/notesMasters/notesMaster1.xml" Id="R2a03242cf04b4a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e550740a1c4681" /><Relationship Type="http://schemas.openxmlformats.org/officeDocument/2006/relationships/notesMaster" Target="/ppt/notesMasters/notesMaster1.xml" Id="Rb778eb459b2742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82385fd83940e9" /><Relationship Type="http://schemas.openxmlformats.org/officeDocument/2006/relationships/notesMaster" Target="/ppt/notesMasters/notesMaster1.xml" Id="R3df40a52d4314e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0f8f1d55b64543" /><Relationship Type="http://schemas.openxmlformats.org/officeDocument/2006/relationships/notesMaster" Target="/ppt/notesMasters/notesMaster1.xml" Id="R86cbcfac79a142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88d726173e4210" /><Relationship Type="http://schemas.openxmlformats.org/officeDocument/2006/relationships/notesMaster" Target="/ppt/notesMasters/notesMaster1.xml" Id="R7d99170bf1fa42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Education dates: user instructions. Authentic GTXR composite manufacturing photo from preserved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Results from current resume. Overview intentionally uses approved typography for employer work. GTXR CAD and setup image: repository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Strict subset of current resume, Blue Origin experience. No proprietary imagery, inferred geometry, or technical expansion.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Resume: structured fin trade study. User notes: decision matrix and specific G10/wood selection. No supported roll-coupling account is available, so no causal history claimed. Image is contextual, not material-specific.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Current resume: tooling, co-development, and 0.28 mm average global geometric error. User notes: future PMI option, not flight-ready. Publication: Viability of Thermoformed Closed-Cell Foam Cores for Carbon Fiber Sandwich Rocket Fins, AIAA Regional Student Conference Proceedings,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Resume and firsthand user notes. Target 1.6 degrees, independently measured &lt;0.1 degree error on all four fins. Actual modular four-tower hardware and laser-cut fin-profile slots.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Current resume. Cleaning process qualified by Rolls-Royce and Pursuit Quality. Broader one-piece-flow improvement of 55% intentionally omitted to avoid implied fixture-only attribution. Employer imagery must be authorized for public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Resume and published GTXR paper, Shear Modulus Testing in Composite Sandwich Panels, AIAA Regional Student Conference Proceedings, 2024. Photo from paper Fig. 2. 5% is acceptance criterion, not measured model error.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Resume and firsthand user notes. Exact continuity fault uncertain. Teammate sourced NPT plugs, experienced machinist drilled holes, fin team completed wiring/epoxy checks and cure calculations. Propulsion lead hydrotested at 2 times MEOP. No precise pressure invented.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Preserved V1 portfolio page 5: two-week mock launch rail project, bending/buckling checks, CAD and fabrication. No full flight qualification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Strict subset of current resume, Ben T. Zinn Combustion Laboratory. No measured result or original method development claimed. GTXR papers are separate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Identity, contact, and portrait from supplied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ff717123e64a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e7d582f6704299" /><Relationship Type="http://schemas.openxmlformats.org/officeDocument/2006/relationships/slideLayout" Target="/ppt/slideLayouts/slideLayout1.xml" Id="R37acf24f2f4e41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acf24f2f4e41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4e8f77b6944cc" /><Relationship Type="http://schemas.openxmlformats.org/officeDocument/2006/relationships/image" Target="/ppt/media/image.jpeg" Id="R136ad64bd7974742" /><Relationship Type="http://schemas.openxmlformats.org/officeDocument/2006/relationships/notesSlide" Target="/ppt/notesSlides/notesSlide1.xml" Id="R98bf591e965344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671e5be7e4e6a" /><Relationship Type="http://schemas.openxmlformats.org/officeDocument/2006/relationships/image" Target="/ppt/media/image2.jpeg" Id="R8d2de8f3b2c64b5b" /><Relationship Type="http://schemas.openxmlformats.org/officeDocument/2006/relationships/image" Target="/ppt/media/image.png" Id="Rdbc821e15dbf4c43" /><Relationship Type="http://schemas.openxmlformats.org/officeDocument/2006/relationships/notesSlide" Target="/ppt/notesSlides/notesSlide2.xml" Id="R0e3ea60f7ea64d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1968d65554766" /><Relationship Type="http://schemas.openxmlformats.org/officeDocument/2006/relationships/notesSlide" Target="/ppt/notesSlides/notesSlide3.xml" Id="R917e92b10a6a47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a34d81b184495" /><Relationship Type="http://schemas.openxmlformats.org/officeDocument/2006/relationships/image" Target="/ppt/media/image3.jpeg" Id="Rd7552bc8abd748e5" /><Relationship Type="http://schemas.openxmlformats.org/officeDocument/2006/relationships/notesSlide" Target="/ppt/notesSlides/notesSlide4.xml" Id="R65bd50c4e42346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f2f913a034911" /><Relationship Type="http://schemas.openxmlformats.org/officeDocument/2006/relationships/image" Target="/ppt/media/image4.jpeg" Id="R8561f8afe05249db" /><Relationship Type="http://schemas.openxmlformats.org/officeDocument/2006/relationships/notesSlide" Target="/ppt/notesSlides/notesSlide5.xml" Id="R7a0648701c9c4a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ce1f39ad34210" /><Relationship Type="http://schemas.openxmlformats.org/officeDocument/2006/relationships/image" Target="/ppt/media/image.bin" Id="R49013d6c0c67494f" /><Relationship Type="http://schemas.openxmlformats.org/officeDocument/2006/relationships/image" Target="/ppt/media/image2.bin" Id="R29fd3a034e534952" /><Relationship Type="http://schemas.openxmlformats.org/officeDocument/2006/relationships/image" Target="/ppt/media/image5.jpeg" Id="R072ff2bbd8c049f9" /><Relationship Type="http://schemas.openxmlformats.org/officeDocument/2006/relationships/image" Target="/ppt/media/image6.jpeg" Id="Rdb86e826cc5a4a83" /><Relationship Type="http://schemas.openxmlformats.org/officeDocument/2006/relationships/notesSlide" Target="/ppt/notesSlides/notesSlide6.xml" Id="R3201e823f8fa4d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6978474334d98" /><Relationship Type="http://schemas.openxmlformats.org/officeDocument/2006/relationships/notesSlide" Target="/ppt/notesSlides/notesSlide7.xml" Id="Rb240f08332f143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8e84b6bd44d36" /><Relationship Type="http://schemas.openxmlformats.org/officeDocument/2006/relationships/image" Target="/ppt/media/image7.jpeg" Id="Re0933e0e47244959" /><Relationship Type="http://schemas.openxmlformats.org/officeDocument/2006/relationships/notesSlide" Target="/ppt/notesSlides/notesSlide8.xml" Id="R0ae444ed06794c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313bf976a4874" /><Relationship Type="http://schemas.openxmlformats.org/officeDocument/2006/relationships/notesSlide" Target="/ppt/notesSlides/notesSlide9.xml" Id="Reb100e3cd31e49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bf7e1838b480e" /><Relationship Type="http://schemas.openxmlformats.org/officeDocument/2006/relationships/image" Target="/ppt/media/image8.jpeg" Id="Rdcf289d3292c404d" /><Relationship Type="http://schemas.openxmlformats.org/officeDocument/2006/relationships/image" Target="/ppt/media/image9.jpeg" Id="Re40cbf368b9f4100" /><Relationship Type="http://schemas.openxmlformats.org/officeDocument/2006/relationships/notesSlide" Target="/ppt/notesSlides/notesSlide10.xml" Id="Rad31349ede7c4a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27d7f282244d8" /><Relationship Type="http://schemas.openxmlformats.org/officeDocument/2006/relationships/notesSlide" Target="/ppt/notesSlides/notesSlide11.xml" Id="Rb9133de7791143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f973f212f493b" /><Relationship Type="http://schemas.openxmlformats.org/officeDocument/2006/relationships/image" Target="/ppt/media/image2.png" Id="Rc51c10244c22475d" /><Relationship Type="http://schemas.openxmlformats.org/officeDocument/2006/relationships/notesSlide" Target="/ppt/notesSlides/notesSlide12.xml" Id="R9bac947e61eb45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ad64bd7974742"/>
          <a:srcRect xmlns:a="http://schemas.openxmlformats.org/drawingml/2006/main" l="23167" t="0" r="231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5460E-795C-4E79-822F-9D7E4D8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4857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Nathaniel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Murcin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926CD-CE21-4643-B211-EF88F21D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480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7463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746338"/>
                </a:solidFill>
                <a:latin typeface="Arial"/>
                <a:ea typeface="Arial"/>
                <a:cs typeface="Arial"/>
              </a:rPr>
              <a:t>Aerospace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37810-8377-4A9B-AF9E-D667B4E6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4800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Georgia Institute of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8C0D1-C718-4C0C-8B31-0B4BB371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91025"/>
            <a:ext cx="47434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B.S. Aerospace Engineering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Expected May 2027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M.S. Aerospace Engineering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Expected May 2028</a:t>
            </a:r>
          </a:p>
        </p:txBody>
      </p:sp>
    </p:spTree>
    <p:extLst>
      <p:ext uri="{BB962C8B-B14F-4D97-AF65-F5344CB8AC3E}">
        <p14:creationId xmlns:p14="http://schemas.microsoft.com/office/powerpoint/2010/main" val="2067537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47FC2-184C-40DE-90D9-6036AE81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463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46338"/>
                </a:solidFill>
                <a:latin typeface="Arial"/>
                <a:ea typeface="Arial"/>
                <a:cs typeface="Arial"/>
              </a:rPr>
              <a:t>PORTFOLIO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17DCA-5492-4DFF-B681-5F2368C0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Selected engineering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5BD4A-288E-4413-B50A-4E9C204A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6D3AD-A137-4D56-9D6A-E143A0F6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Nathaniel Murcin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AD8EA-4C62-4EBD-9FA7-40A47D8B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76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7C00E-2BB7-4591-8B17-CD9512B1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33575"/>
            <a:ext cx="476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Blue Origin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2850E-0062-419A-81C4-E81936BC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Cryogenic systems and validated tooling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07700-11B9-4EF9-A198-90B2F77B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125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~60%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518B1-C10B-4ACA-AE30-39AB05B0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fewer tank-farm components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de8f3b2c64b5b"/>
          <a:stretch xmlns:a="http://schemas.openxmlformats.org/drawingml/2006/main"/>
        </p:blipFill>
        <p:spPr>
          <a:xfrm xmlns:a="http://schemas.openxmlformats.org/drawingml/2006/main">
            <a:off x="6606388" y="1752600"/>
            <a:ext cx="1912924" cy="2114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D7BCE-C034-49C9-A46D-3E194D8A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05000"/>
            <a:ext cx="2743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GTXR flight hardware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B412F-B5B3-45EF-AD52-AE352232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86075"/>
            <a:ext cx="274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&lt;0.1° error on all four fins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5A476-D29D-4CF5-81D8-F3B7C09C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672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F52C4-BC45-44D5-AD2C-BE14EC1E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481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Pursuit Aerospace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58D85-E4AC-4E40-AFE6-4BD8CF83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4857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Production tooling and qualified cleaning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821e15dbf4c43"/>
          <a:stretch xmlns:a="http://schemas.openxmlformats.org/drawingml/2006/main"/>
        </p:blipFill>
        <p:spPr>
          <a:xfrm xmlns:a="http://schemas.openxmlformats.org/drawingml/2006/main">
            <a:off x="6457950" y="4737229"/>
            <a:ext cx="2209800" cy="1412616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FF8AD-0ADD-44CB-B8FB-7BE0CF6A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91075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Test engineering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3BF8D-267A-49EF-BC2C-AF1DB335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86400"/>
            <a:ext cx="2743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Measured panel shear modulus to verify an ANSYS model</a:t>
            </a:r>
          </a:p>
        </p:txBody>
      </p:sp>
    </p:spTree>
    <p:extLst>
      <p:ext uri="{BB962C8B-B14F-4D97-AF65-F5344CB8AC3E}">
        <p14:creationId xmlns:p14="http://schemas.microsoft.com/office/powerpoint/2010/main" val="19921841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1359E-C24C-42D5-93A2-9E71D7A3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463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46338"/>
                </a:solidFill>
                <a:latin typeface="Arial"/>
                <a:ea typeface="Arial"/>
                <a:cs typeface="Arial"/>
              </a:rPr>
              <a:t>BLUE ORIGIN / FLUIDS &amp; MANUFACTURING ENGINEERING INTERN / MAY-AUG.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ABB86-28A7-4FB4-9A94-D000D594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Cryogenic systems and manufacturing tooling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A9CC9-78FB-4D70-8C03-12CB37A5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125B2-FA68-4243-A0D9-EA92F001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Nathaniel Murcin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68B7E-C6E8-4F48-BB7A-C7D9B55F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76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9DDA1-9096-4E02-92B4-D61658BE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32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Ground-test fluid 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3DD76-36C8-4BBE-A377-2A3C6853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43175"/>
            <a:ext cx="519112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Designed a cryogenic tank-farm P&amp;ID, challenging requirements and simplifying heritage designs.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745E0-8226-4251-A746-34656886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81425"/>
            <a:ext cx="519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Sized piping, valves, and relief devices. Developed the BOM and coordinated procurement with suppliers.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B34B7-888C-4661-AA56-EC886404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125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~60%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3EAF6-2FD5-4615-9D65-A2EA9158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519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reduction in component 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67E6C-0BFB-47C0-8329-F9DDF54B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866900"/>
            <a:ext cx="19050" cy="425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333D2-A73E-4E53-8B49-0B2E97E6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383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Adaptable gripping fixture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FC78B-DA0F-462E-94AE-E8F7FDC4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43175"/>
            <a:ext cx="5143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Designed six Creo versions to improve technician usability and prevent slip, part damage, and metal-chip FOD.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08C53-383B-4864-AA8D-FBA89CAB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24300"/>
            <a:ext cx="5143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Validated with hand calculations and static FEA. Design passed PDR.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8BE6A-B1B1-4E41-86A0-7F9890CC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0577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125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8 to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5FF78-2337-4417-B5C2-DE04F5B9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78167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fasteners after fixture redesign</a:t>
            </a:r>
          </a:p>
        </p:txBody>
      </p:sp>
    </p:spTree>
    <p:extLst>
      <p:ext uri="{BB962C8B-B14F-4D97-AF65-F5344CB8AC3E}">
        <p14:creationId xmlns:p14="http://schemas.microsoft.com/office/powerpoint/2010/main" val="1744309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FD3F8-11DE-4C31-B33B-4E4C99EB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463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46338"/>
                </a:solidFill>
                <a:latin typeface="Arial"/>
                <a:ea typeface="Arial"/>
                <a:cs typeface="Arial"/>
              </a:rPr>
              <a:t>GTXR / FIN DESIGN &amp; MANUFACTURING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FFEAD-6208-4F3C-BC74-CB2C19C1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Fin selection within structural and machining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DF993-6983-4A74-8A16-4F8F38D1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63121-BD1F-458B-B615-3D0F6F9B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Nathaniel Murcin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09EE2-4C64-4476-AFC7-F3299722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76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52bc8abd748e5"/>
          <a:stretch xmlns:a="http://schemas.openxmlformats.org/drawingml/2006/main"/>
        </p:blipFill>
        <p:spPr>
          <a:xfrm xmlns:a="http://schemas.openxmlformats.org/drawingml/2006/main">
            <a:off x="2115781" y="1704975"/>
            <a:ext cx="3807539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E1373-0F2A-4194-8F89-A894D002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67425"/>
            <a:ext cx="7124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GTXR fin fabrication. Context photograph, not evidence of the selected material.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58FC0-A40F-4DBE-86AF-70C94603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38325"/>
            <a:ext cx="37052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G10 sustainer fins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0342B-7788-475F-98BD-226100E5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762250"/>
            <a:ext cx="370522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Built a decision matrix comparing materials, geometry, and manufacturing constraints.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CF00A-C55B-4663-A699-14C0ABA1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143375"/>
            <a:ext cx="37052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The team selected G10 for the high-Mach sustainer. Booster choices were wood on one vehicle and G10 on another.</a:t>
            </a:r>
          </a:p>
        </p:txBody>
      </p:sp>
    </p:spTree>
    <p:extLst>
      <p:ext uri="{BB962C8B-B14F-4D97-AF65-F5344CB8AC3E}">
        <p14:creationId xmlns:p14="http://schemas.microsoft.com/office/powerpoint/2010/main" val="1278048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A69B5-2C30-492A-AF60-F83B0CCC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463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46338"/>
                </a:solidFill>
                <a:latin typeface="Arial"/>
                <a:ea typeface="Arial"/>
                <a:cs typeface="Arial"/>
              </a:rPr>
              <a:t>GTXR / MANUFACTURING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869AF-027D-4408-BD52-D0485012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Thermoforming a candidate fin-core geometry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521AA-AE37-4C76-BFAF-8F91A52F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1B1DD-649D-41A1-9215-43C9D7D7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Nathaniel Murcin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3BC1B-E8DE-4415-B5E5-161F8D8D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76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1f8afe05249db"/>
          <a:stretch xmlns:a="http://schemas.openxmlformats.org/drawingml/2006/main"/>
        </p:blipFill>
        <p:spPr>
          <a:xfrm xmlns:a="http://schemas.openxmlformats.org/drawingml/2006/main">
            <a:off x="701132" y="1819275"/>
            <a:ext cx="6808287" cy="3638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937A2-7E89-43EA-A8A5-DD3E3B72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7296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CNC-machined aluminum tooling for double-wedge PMI foam cores.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FA62B-9FD5-4CB5-B618-6B3B88C9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57375"/>
            <a:ext cx="3524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Co-developed and evaluated a thermoforming process for a future fin-core option.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7E487-4C98-4AFE-B336-39416D92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385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125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0.28 mm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4AA76-48D0-40B6-B2DD-2E030253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624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average global geometric error measured with 3D metrology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268B1-FF31-4356-A6CB-D9FADFA0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673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Manufacturing feasibility research. The PMI cores were not yet viable for flight.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CC6A9-3D95-4F06-9C5E-238D61FB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729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7463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46338"/>
                </a:solidFill>
                <a:latin typeface="Arial"/>
                <a:ea typeface="Arial"/>
                <a:cs typeface="Arial"/>
              </a:rPr>
              <a:t>Co-author and presenter, AIAA 2026-112793</a:t>
            </a:r>
          </a:p>
        </p:txBody>
      </p:sp>
    </p:spTree>
    <p:extLst>
      <p:ext uri="{BB962C8B-B14F-4D97-AF65-F5344CB8AC3E}">
        <p14:creationId xmlns:p14="http://schemas.microsoft.com/office/powerpoint/2010/main" val="11775272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980A4-E64B-4E7E-BD23-23CB1EA4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463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46338"/>
                </a:solidFill>
                <a:latin typeface="Arial"/>
                <a:ea typeface="Arial"/>
                <a:cs typeface="Arial"/>
              </a:rPr>
              <a:t>GTXR / PRECISION TOOLING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9E706-4EDC-431D-96D0-8FCC99DF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Modular tooling for repeatable fin cant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DAFC4-3362-49EE-A467-0A7696A4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1351B-1D6D-49D2-8647-BF7FB80B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Nathaniel Murcin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D3EC9-3C03-4E8A-A760-16B4D1F4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76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13d6c0c67494f"/>
          <a:stretch xmlns:a="http://schemas.openxmlformats.org/drawingml/2006/main"/>
        </p:blipFill>
        <p:spPr>
          <a:xfrm xmlns:a="http://schemas.openxmlformats.org/drawingml/2006/main">
            <a:off x="1111589" y="1752600"/>
            <a:ext cx="2986997" cy="248602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d3a034e534952"/>
          <a:stretch xmlns:a="http://schemas.openxmlformats.org/drawingml/2006/main"/>
        </p:blipFill>
        <p:spPr>
          <a:xfrm xmlns:a="http://schemas.openxmlformats.org/drawingml/2006/main">
            <a:off x="830650" y="4476750"/>
            <a:ext cx="1300976" cy="17335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ff2bbd8c049f9"/>
          <a:stretch xmlns:a="http://schemas.openxmlformats.org/drawingml/2006/main"/>
        </p:blipFill>
        <p:spPr>
          <a:xfrm xmlns:a="http://schemas.openxmlformats.org/drawingml/2006/main">
            <a:off x="2906328" y="4371975"/>
            <a:ext cx="1673993" cy="183832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6e826cc5a4a83"/>
          <a:stretch xmlns:a="http://schemas.openxmlformats.org/drawingml/2006/main"/>
        </p:blipFill>
        <p:spPr>
          <a:xfrm xmlns:a="http://schemas.openxmlformats.org/drawingml/2006/main">
            <a:off x="5105400" y="1961829"/>
            <a:ext cx="3067050" cy="387731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13A58-8ECE-462D-BBA6-FB1C85E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4438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CAD, machined components, and fixture assembly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FCAB3-2881-4A5B-AE6C-873890D7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191250"/>
            <a:ext cx="3067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Fixture on the airframe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62C3D-A698-49D9-A5B1-DEA159C5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00225"/>
            <a:ext cx="31337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Designed, CAM programmed, and machined a four-tower fixture for changing rocket diameters and fin profiles.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25CAB-C1AA-461F-86FB-5F823F42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724275"/>
            <a:ext cx="3133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125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&lt;0.1°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7F38B-FCBB-4768-8491-2B048D44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448175"/>
            <a:ext cx="3133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error on all four fins, verified by independent metrology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7B35B-CFAF-40AF-8139-F1DC7C3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505450"/>
            <a:ext cx="3133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Target cant: 1.6°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Laser-cut slots constrain each fin.</a:t>
            </a:r>
          </a:p>
        </p:txBody>
      </p:sp>
    </p:spTree>
    <p:extLst>
      <p:ext uri="{BB962C8B-B14F-4D97-AF65-F5344CB8AC3E}">
        <p14:creationId xmlns:p14="http://schemas.microsoft.com/office/powerpoint/2010/main" val="14254220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5D627-72D7-4EA9-A641-17A3BE5F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463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46338"/>
                </a:solidFill>
                <a:latin typeface="Arial"/>
                <a:ea typeface="Arial"/>
                <a:cs typeface="Arial"/>
              </a:rPr>
              <a:t>PURSUIT AEROSPACE / ENGINEERING INTERN / AUG.-DEC.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DF33E-F45F-45E9-BBF9-91DDB66F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Production tooling and in-house cleaning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869F8-1420-4194-8334-EC1FBE36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72C09-0F9E-4531-AD9F-DA91A035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Nathaniel Murcin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8EE26-DFA4-45CF-B99E-77D73355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76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D0328-F2E2-4146-ADCD-5F1A4467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6229350" cy="3800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C6C8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29CEB-6CDA-49DD-8DEE-2F19DF16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0676A"/>
                </a:solidFill>
                <a:latin typeface="Arial"/>
                <a:ea typeface="Arial"/>
                <a:cs typeface="Arial"/>
              </a:rPr>
              <a:t>PHOTO NEEDED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EAB7B-59C7-4D76-B77A-C3F01498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5657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Quick-change marking fixtures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F6D70-C1F1-49F6-98A3-3557EF81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56578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Preferred: landscape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Show a fixture holding a representative approved part.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717CA-C577-4864-A7FD-C7F84AF0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622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Requested: deployed tooling with the locating and clamping features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48176-2FE3-4439-BD67-E6025AD8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828800"/>
            <a:ext cx="4600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15 deployed fixtures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2BE72-6C12-4652-806D-560AC2C6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390775"/>
            <a:ext cx="46005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Designed and built dot-peen marking fixtures using GD&amp;T and DFM.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29A8F-540A-48BA-BEB5-210165E9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362325"/>
            <a:ext cx="4600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6 s to 1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DD9DD-920D-435D-A806-A98DCEF3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971925"/>
            <a:ext cx="4600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Average part load/unload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A8DD9-0D46-4DDA-A7EC-CD6DB7DA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705350"/>
            <a:ext cx="4600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40 s to 2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0119F-9A77-4408-B8AA-9CB32131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314950"/>
            <a:ext cx="4600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Inspection time with Go/No-Go gauges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6551E-CF05-49A2-A01B-77EFA824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Qualified in-house supercleaning removed 3 days and $1,000/part in outsourced cleaning and shipping.</a:t>
            </a:r>
          </a:p>
        </p:txBody>
      </p:sp>
    </p:spTree>
    <p:extLst>
      <p:ext uri="{BB962C8B-B14F-4D97-AF65-F5344CB8AC3E}">
        <p14:creationId xmlns:p14="http://schemas.microsoft.com/office/powerpoint/2010/main" val="12611148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3F349-E018-4073-BE3E-DD42F835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463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46338"/>
                </a:solidFill>
                <a:latin typeface="Arial"/>
                <a:ea typeface="Arial"/>
                <a:cs typeface="Arial"/>
              </a:rPr>
              <a:t>GTXR / EXPERIMENTAL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E5D64-5F78-4228-881D-D1A722BE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Plate-twist testing to verify the structural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75A93-A85F-4D7E-ACB7-818F74D5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E5111-B52C-4783-8BAB-A4BF9248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Nathaniel Murcin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9FE26-05AD-4D44-8098-0A9430FE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76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33e0e47244959"/>
          <a:stretch xmlns:a="http://schemas.openxmlformats.org/drawingml/2006/main"/>
        </p:blipFill>
        <p:spPr>
          <a:xfrm xmlns:a="http://schemas.openxmlformats.org/drawingml/2006/main">
            <a:off x="1199036" y="1752600"/>
            <a:ext cx="5726754" cy="4295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0BFF8-A2EE-4E89-8C44-0E242D21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5525"/>
            <a:ext cx="72104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Physical test apparatus for in-plane shear modulus of sandwich panels.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495C3-A424-402F-A722-E2D6E939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57375"/>
            <a:ext cx="3600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Designed and executed the plate-twist test to characterize composite sandwich panels.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A2959-143F-4411-82F1-7131AE47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995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ANSYS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0FAFD-A2CE-4D47-8B7C-8EED83E3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10025"/>
            <a:ext cx="36004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Verified within a 5% acceptance criterion for future fin development.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D5692-03D1-4236-9190-5E238A42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10225"/>
            <a:ext cx="3600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Co-author and presenter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AIAA 2024-85690</a:t>
            </a:r>
          </a:p>
        </p:txBody>
      </p:sp>
    </p:spTree>
    <p:extLst>
      <p:ext uri="{BB962C8B-B14F-4D97-AF65-F5344CB8AC3E}">
        <p14:creationId xmlns:p14="http://schemas.microsoft.com/office/powerpoint/2010/main" val="12052471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EE8F3-EDF1-4834-BF52-E4C796E2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463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46338"/>
                </a:solidFill>
                <a:latin typeface="Arial"/>
                <a:ea typeface="Arial"/>
                <a:cs typeface="Arial"/>
              </a:rPr>
              <a:t>GTXR / LAUNCH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F3BD9-62F4-443B-A401-1A58B0F5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Overnight recovery of an electrical passthrough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11503-5096-4577-982A-2D8DD689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C9971-8E98-48FA-BE24-860A2DB6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Nathaniel Murcin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C7D07-81BF-4ED4-97D3-57D96519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76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1D4F8-1065-4701-A248-7AB576D5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65341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C6C8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65F77-C6E3-4383-A616-E9E850E5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596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0676A"/>
                </a:solidFill>
                <a:latin typeface="Arial"/>
                <a:ea typeface="Arial"/>
                <a:cs typeface="Arial"/>
              </a:rPr>
              <a:t>PHOTO NEEDED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A5EA3-1C14-4797-A7EE-178AD77B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5962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Flight electrical passthrough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4A60C-9635-4F86-AFBE-25062762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59626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Preferred: landscape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Show the completed NPT body, wire exits, and sealing region.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D5E94-A122-4166-8FEF-CDCA0B1C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19275"/>
            <a:ext cx="4286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A continuity failure threatened second-stage ignition. Designed and fabricated the replacement with the fin team.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8FBB4-2A7B-40AD-8A9E-EFC4B2B3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6707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825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14 hours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24755-6EFB-41AE-B1F1-54011C0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81450"/>
            <a:ext cx="428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Design and fabrication during launch integration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5F533-4666-4E67-8BAE-9F41B8FD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10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825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2× MEOP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33E5E-A149-4E2D-8856-9DFE2AFC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14975"/>
            <a:ext cx="428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Hydrostatic test performed by the propulsion lead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EA01E-7F58-484D-9FBD-816600C4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43625"/>
            <a:ext cx="653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The vehicle flew and the second stage ignited.</a:t>
            </a:r>
          </a:p>
        </p:txBody>
      </p:sp>
    </p:spTree>
    <p:extLst>
      <p:ext uri="{BB962C8B-B14F-4D97-AF65-F5344CB8AC3E}">
        <p14:creationId xmlns:p14="http://schemas.microsoft.com/office/powerpoint/2010/main" val="5152763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935DB-D53F-40CD-A396-FF9624CA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463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46338"/>
                </a:solidFill>
                <a:latin typeface="Arial"/>
                <a:ea typeface="Arial"/>
                <a:cs typeface="Arial"/>
              </a:rPr>
              <a:t>GTXR / ADDITIONAL HARDWARE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883BD-677B-4AC8-A496-DEE0C19D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Mock launch rail from analysis to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ED4EA-6DC6-4159-B1A0-0DC6D66F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C0250-5ECF-4326-9284-99FFC0BC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Nathaniel Murcin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23635-5C49-4A7E-ACAE-DE6F9D02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76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289d3292c404d"/>
          <a:stretch xmlns:a="http://schemas.openxmlformats.org/drawingml/2006/main"/>
        </p:blipFill>
        <p:spPr>
          <a:xfrm xmlns:a="http://schemas.openxmlformats.org/drawingml/2006/main">
            <a:off x="1549617" y="1714500"/>
            <a:ext cx="2844366" cy="43624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cbf368b9f4100"/>
          <a:stretch xmlns:a="http://schemas.openxmlformats.org/drawingml/2006/main"/>
        </p:blipFill>
        <p:spPr>
          <a:xfrm xmlns:a="http://schemas.openxmlformats.org/drawingml/2006/main">
            <a:off x="7349175" y="1790700"/>
            <a:ext cx="2989575" cy="2705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7B289-80ED-4284-B20C-99380EFE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502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Full-height rail and vehicle at the mock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7E30A-5075-46DB-8444-CD01F3E0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91050"/>
            <a:ext cx="57816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Guide hardware used in the rail assembly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8F258-EAAE-4DD5-A5C8-91C08694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67325"/>
            <a:ext cx="57816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Two-week 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050C4-0F61-474C-B2F3-7150EF22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867400"/>
            <a:ext cx="5781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Checked bending and buckling, completed CAD, and fabricated the rail in wood, steel, and aluminum.</a:t>
            </a:r>
          </a:p>
        </p:txBody>
      </p:sp>
    </p:spTree>
    <p:extLst>
      <p:ext uri="{BB962C8B-B14F-4D97-AF65-F5344CB8AC3E}">
        <p14:creationId xmlns:p14="http://schemas.microsoft.com/office/powerpoint/2010/main" val="11873423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4FBA3-A76C-4CEE-848E-CCA58242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463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46338"/>
                </a:solidFill>
                <a:latin typeface="Arial"/>
                <a:ea typeface="Arial"/>
                <a:cs typeface="Arial"/>
              </a:rPr>
              <a:t>BEN T. ZINN COMBUSTION LABORATORY / UNDERGRADUATE RESEARCHER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F9440-3F7A-4F96-B401-B9327F0D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Reacting-flow hardware and PIV 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80661-5648-4BCE-AE68-4FB06D3F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505CD-3285-4B85-A2FD-5B5287D3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Nathaniel Murcin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F41B5-A559-4B48-9311-F3A80FB5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76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FC5AB-1A3D-49F3-8A5A-8954B388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71628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C6C8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24111-39B5-4033-9562-76FA9B22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659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0676A"/>
                </a:solidFill>
                <a:latin typeface="Arial"/>
                <a:ea typeface="Arial"/>
                <a:cs typeface="Arial"/>
              </a:rPr>
              <a:t>PHOTO NEEDED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2A8FF-F639-40A9-AD1A-224C782A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6591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Reacting jets-in-crossflow experiment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6233E-B3E4-4D40-BE06-DA34F3EA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65913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Preferred: landscape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Show approved multi-gas delivery hardware or the experimental setup.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1E0A6-ECD6-4D70-B4D3-5F113341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857375"/>
            <a:ext cx="3629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Experimental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06264-1986-44C5-8CFD-B7F61517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47975"/>
            <a:ext cx="36290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Assembled regulated multi-gas delivery hardware for reacting jets-in-crossflow experiments.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0A0B2-6B98-4C27-A831-0EC7857F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371975"/>
            <a:ext cx="36290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Executed established MATLAB/PIV post-processing workflows.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43E47-F48E-409E-BB01-EAB3CD4B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876925"/>
            <a:ext cx="36290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067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76A"/>
                </a:solidFill>
                <a:latin typeface="Arial"/>
                <a:ea typeface="Arial"/>
                <a:cs typeface="Arial"/>
              </a:rPr>
              <a:t>Undergraduate researcher since January 2026</a:t>
            </a:r>
          </a:p>
        </p:txBody>
      </p:sp>
    </p:spTree>
    <p:extLst>
      <p:ext uri="{BB962C8B-B14F-4D97-AF65-F5344CB8AC3E}">
        <p14:creationId xmlns:p14="http://schemas.microsoft.com/office/powerpoint/2010/main" val="3738943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c10244c22475d"/>
          <a:srcRect xmlns:a="http://schemas.openxmlformats.org/drawingml/2006/main" l="15972" t="0" r="159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87313-CD2F-479E-983E-3883CB42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67532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425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Nathaniel Murcin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94CC5-60CD-472D-ABA2-06CE24D0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0775"/>
            <a:ext cx="657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Aerospace Engineering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Georgia Institute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8755F-8110-4DEF-853D-61DBB951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619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F0546-03C3-4E51-AB5A-8264A579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2A2C"/>
                </a:solidFill>
                <a:latin typeface="Arial"/>
                <a:ea typeface="Arial"/>
                <a:cs typeface="Arial"/>
              </a:rPr>
              <a:t>nmurcin3@gatech.edu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F7056-D23F-4505-9E0D-B1D061B4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linkedin.com/in/nathaniel-murcin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52A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A2C"/>
                </a:solidFill>
                <a:latin typeface="Arial"/>
                <a:ea typeface="Arial"/>
                <a:cs typeface="Arial"/>
              </a:rPr>
              <a:t>nmurcin.github.io</a:t>
            </a:r>
          </a:p>
        </p:txBody>
      </p:sp>
    </p:spTree>
    <p:extLst>
      <p:ext uri="{BB962C8B-B14F-4D97-AF65-F5344CB8AC3E}">
        <p14:creationId xmlns:p14="http://schemas.microsoft.com/office/powerpoint/2010/main" val="598671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2026-10-04T04:22:19.6870000Z</dcterms:created>
  <dcterms:modified xsi:type="dcterms:W3CDTF">2026-10-04T04:22:19.6880000Z</dcterms:modified>
</coreProperties>
</file>